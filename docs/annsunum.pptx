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0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Orta Stil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Orta Stil 1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Orta Stil 1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599"/>
  </p:normalViewPr>
  <p:slideViewPr>
    <p:cSldViewPr snapToGrid="0">
      <p:cViewPr varScale="1">
        <p:scale>
          <a:sx n="112" d="100"/>
          <a:sy n="112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51DFC-C6D0-454A-BF5A-F8153F8A372E}" type="datetimeFigureOut">
              <a:rPr lang="tr-TR" smtClean="0"/>
              <a:t>27.01.2025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180AB-CB4F-6347-868F-CFD2F3C592A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359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Hello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today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I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will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introduce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deep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neural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network (DNN) model I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developed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predict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heart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disease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This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model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trained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predict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whether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patients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have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heart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disease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based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on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their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clinical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data.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80AB-CB4F-6347-868F-CFD2F3C592A8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511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First, I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would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like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talk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about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dataset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features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As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you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can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see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slide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our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dataset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contains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13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features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1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target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column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features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divided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into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numerical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categorical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categories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Examples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numerical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features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include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age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blood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pressure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while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categorical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features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include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gender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chest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pain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type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</a:t>
            </a:r>
          </a:p>
          <a:p>
            <a:br>
              <a:rPr lang="tr-TR" dirty="0"/>
            </a:b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80AB-CB4F-6347-868F-CFD2F3C592A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499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Next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detailed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data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processing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procedure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followed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This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included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steps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like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removing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missing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data,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adjusting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columns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various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processes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prepare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data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modeling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target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column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marked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as 0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1.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indicate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presence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heart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disease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target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column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made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binary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(0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1).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80AB-CB4F-6347-868F-CFD2F3C592A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0222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In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model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structure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80%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processed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data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used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training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20%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testing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necessary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code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optimization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was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added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training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parameters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were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defined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You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can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see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parameters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slide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80AB-CB4F-6347-868F-CFD2F3C592A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531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Four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metrics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were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set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evaluate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model's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performance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metrics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will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be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used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measure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how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well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model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performs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Now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, I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will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explain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results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model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obtained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metrics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more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detail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.</a:t>
            </a:r>
          </a:p>
          <a:p>
            <a:br>
              <a:rPr lang="tr-TR" dirty="0"/>
            </a:b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80AB-CB4F-6347-868F-CFD2F3C592A8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3154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i="0" u="none" strike="noStrike" dirty="0" err="1">
                <a:solidFill>
                  <a:srgbClr val="000000"/>
                </a:solidFill>
                <a:effectLst/>
                <a:latin typeface="-apple-system-font"/>
              </a:rPr>
              <a:t>Accuracy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 </a:t>
            </a:r>
            <a:r>
              <a:rPr lang="tr-TR" b="1" i="0" u="none" strike="noStrike" dirty="0">
                <a:solidFill>
                  <a:srgbClr val="000000"/>
                </a:solidFill>
                <a:effectLst/>
                <a:latin typeface="-apple-system-font"/>
              </a:rPr>
              <a:t>0.87 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Represents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overall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accuracy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model,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ratio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correctly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predicted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instances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total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number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instances.The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model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performs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quite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with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accuracy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87%,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meaning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it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correctly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predicts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outcomes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87%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time.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80AB-CB4F-6347-868F-CFD2F3C592A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354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tr-TR" b="0" i="0" u="none" strike="noStrike" dirty="0" err="1"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effectLst/>
                <a:latin typeface="-apple-system-font"/>
              </a:rPr>
              <a:t> model </a:t>
            </a:r>
            <a:r>
              <a:rPr lang="tr-TR" b="0" i="0" u="none" strike="noStrike" dirty="0" err="1">
                <a:effectLst/>
                <a:latin typeface="-apple-system-font"/>
              </a:rPr>
              <a:t>performs</a:t>
            </a:r>
            <a:r>
              <a:rPr lang="tr-TR" b="0" i="0" u="none" strike="noStrike" dirty="0">
                <a:effectLst/>
                <a:latin typeface="-apple-system-font"/>
              </a:rPr>
              <a:t> </a:t>
            </a:r>
            <a:r>
              <a:rPr lang="tr-TR" b="1" i="0" u="none" strike="noStrike" dirty="0" err="1">
                <a:effectLst/>
                <a:latin typeface="-apple-system-font"/>
              </a:rPr>
              <a:t>well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overall</a:t>
            </a:r>
            <a:r>
              <a:rPr lang="tr-TR" b="0" i="0" u="none" strike="noStrike" dirty="0"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effectLst/>
                <a:latin typeface="-apple-system-font"/>
              </a:rPr>
              <a:t>especially</a:t>
            </a:r>
            <a:r>
              <a:rPr lang="tr-TR" b="0" i="0" u="none" strike="noStrike" dirty="0">
                <a:effectLst/>
                <a:latin typeface="-apple-system-font"/>
              </a:rPr>
              <a:t> in </a:t>
            </a:r>
            <a:r>
              <a:rPr lang="tr-TR" b="0" i="0" u="none" strike="noStrike" dirty="0" err="1">
                <a:effectLst/>
                <a:latin typeface="-apple-system-font"/>
              </a:rPr>
              <a:t>detecting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people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with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heart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disease</a:t>
            </a:r>
            <a:r>
              <a:rPr lang="tr-TR" b="0" i="0" u="none" strike="noStrike" dirty="0"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effectLst/>
                <a:latin typeface="-apple-system-font"/>
              </a:rPr>
              <a:t>with</a:t>
            </a:r>
            <a:r>
              <a:rPr lang="tr-TR" b="0" i="0" u="none" strike="noStrike" dirty="0">
                <a:effectLst/>
                <a:latin typeface="-apple-system-font"/>
              </a:rPr>
              <a:t> a </a:t>
            </a:r>
            <a:r>
              <a:rPr lang="tr-TR" b="0" i="0" u="none" strike="noStrike" dirty="0" err="1">
                <a:effectLst/>
                <a:latin typeface="-apple-system-font"/>
              </a:rPr>
              <a:t>high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recall</a:t>
            </a:r>
            <a:r>
              <a:rPr lang="tr-TR" b="0" i="0" u="none" strike="noStrike" dirty="0">
                <a:effectLst/>
                <a:latin typeface="-apple-system-font"/>
              </a:rPr>
              <a:t> of 0.88. </a:t>
            </a:r>
            <a:r>
              <a:rPr lang="tr-TR" b="0" i="0" u="none" strike="noStrike" dirty="0" err="1">
                <a:effectLst/>
                <a:latin typeface="-apple-system-font"/>
              </a:rPr>
              <a:t>This</a:t>
            </a:r>
            <a:r>
              <a:rPr lang="tr-TR" b="0" i="0" u="none" strike="noStrike" dirty="0">
                <a:effectLst/>
                <a:latin typeface="-apple-system-font"/>
              </a:rPr>
              <a:t> is </a:t>
            </a:r>
            <a:r>
              <a:rPr lang="tr-TR" b="0" i="0" u="none" strike="noStrike" dirty="0" err="1">
                <a:effectLst/>
                <a:latin typeface="-apple-system-font"/>
              </a:rPr>
              <a:t>crucial</a:t>
            </a:r>
            <a:r>
              <a:rPr lang="tr-TR" b="0" i="0" u="none" strike="noStrike" dirty="0">
                <a:effectLst/>
                <a:latin typeface="-apple-system-font"/>
              </a:rPr>
              <a:t> as </a:t>
            </a:r>
            <a:r>
              <a:rPr lang="tr-TR" b="0" i="0" u="none" strike="noStrike" dirty="0" err="1">
                <a:effectLst/>
                <a:latin typeface="-apple-system-font"/>
              </a:rPr>
              <a:t>early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detection</a:t>
            </a:r>
            <a:r>
              <a:rPr lang="tr-TR" b="0" i="0" u="none" strike="noStrike" dirty="0">
                <a:effectLst/>
                <a:latin typeface="-apple-system-font"/>
              </a:rPr>
              <a:t> of </a:t>
            </a:r>
            <a:r>
              <a:rPr lang="tr-TR" b="0" i="0" u="none" strike="noStrike" dirty="0" err="1">
                <a:effectLst/>
                <a:latin typeface="-apple-system-font"/>
              </a:rPr>
              <a:t>heart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disease</a:t>
            </a:r>
            <a:r>
              <a:rPr lang="tr-TR" b="0" i="0" u="none" strike="noStrike" dirty="0">
                <a:effectLst/>
                <a:latin typeface="-apple-system-font"/>
              </a:rPr>
              <a:t> can be life-</a:t>
            </a:r>
            <a:r>
              <a:rPr lang="tr-TR" b="0" i="0" u="none" strike="noStrike" dirty="0" err="1">
                <a:effectLst/>
                <a:latin typeface="-apple-system-font"/>
              </a:rPr>
              <a:t>saving.There</a:t>
            </a:r>
            <a:r>
              <a:rPr lang="tr-TR" b="0" i="0" u="none" strike="noStrike" dirty="0">
                <a:effectLst/>
                <a:latin typeface="-apple-system-font"/>
              </a:rPr>
              <a:t> is a </a:t>
            </a:r>
            <a:r>
              <a:rPr lang="tr-TR" b="1" i="0" u="none" strike="noStrike" dirty="0" err="1">
                <a:effectLst/>
                <a:latin typeface="-apple-system-font"/>
              </a:rPr>
              <a:t>good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balance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between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precision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and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recall</a:t>
            </a:r>
            <a:r>
              <a:rPr lang="tr-TR" b="0" i="0" u="none" strike="noStrike" dirty="0">
                <a:effectLst/>
                <a:latin typeface="-apple-system-font"/>
              </a:rPr>
              <a:t>, but </a:t>
            </a:r>
            <a:r>
              <a:rPr lang="tr-TR" b="0" i="0" u="none" strike="noStrike" dirty="0" err="1">
                <a:effectLst/>
                <a:latin typeface="-apple-system-font"/>
              </a:rPr>
              <a:t>to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improve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further</a:t>
            </a:r>
            <a:r>
              <a:rPr lang="tr-TR" b="0" i="0" u="none" strike="noStrike" dirty="0">
                <a:effectLst/>
                <a:latin typeface="-apple-system-font"/>
              </a:rPr>
              <a:t>, </a:t>
            </a:r>
            <a:r>
              <a:rPr lang="tr-TR" b="0" i="0" u="none" strike="noStrike" dirty="0" err="1">
                <a:effectLst/>
                <a:latin typeface="-apple-system-font"/>
              </a:rPr>
              <a:t>especially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the</a:t>
            </a:r>
            <a:r>
              <a:rPr lang="tr-TR" b="0" i="0" u="none" strike="noStrike" dirty="0">
                <a:effectLst/>
                <a:latin typeface="-apple-system-font"/>
              </a:rPr>
              <a:t> </a:t>
            </a:r>
            <a:r>
              <a:rPr lang="tr-TR" b="1" i="0" u="none" strike="noStrike" dirty="0" err="1">
                <a:effectLst/>
                <a:latin typeface="-apple-system-font"/>
              </a:rPr>
              <a:t>precision</a:t>
            </a:r>
            <a:r>
              <a:rPr lang="tr-TR" b="0" i="0" u="none" strike="noStrike" dirty="0">
                <a:effectLst/>
                <a:latin typeface="-apple-system-font"/>
              </a:rPr>
              <a:t>, model </a:t>
            </a:r>
            <a:r>
              <a:rPr lang="tr-TR" b="0" i="0" u="none" strike="noStrike" dirty="0" err="1">
                <a:effectLst/>
                <a:latin typeface="-apple-system-font"/>
              </a:rPr>
              <a:t>adjustments</a:t>
            </a:r>
            <a:r>
              <a:rPr lang="tr-TR" b="0" i="0" u="none" strike="noStrike" dirty="0">
                <a:effectLst/>
                <a:latin typeface="-apple-system-font"/>
              </a:rPr>
              <a:t> </a:t>
            </a:r>
            <a:r>
              <a:rPr lang="tr-TR" b="0" i="0" u="none" strike="noStrike" dirty="0" err="1">
                <a:effectLst/>
                <a:latin typeface="-apple-system-font"/>
              </a:rPr>
              <a:t>may</a:t>
            </a:r>
            <a:r>
              <a:rPr lang="tr-TR" b="0" i="0" u="none" strike="noStrike" dirty="0">
                <a:effectLst/>
                <a:latin typeface="-apple-system-font"/>
              </a:rPr>
              <a:t> be </a:t>
            </a:r>
            <a:r>
              <a:rPr lang="tr-TR" b="0" i="0" u="none" strike="noStrike" dirty="0" err="1">
                <a:effectLst/>
                <a:latin typeface="-apple-system-font"/>
              </a:rPr>
              <a:t>considered</a:t>
            </a:r>
            <a:r>
              <a:rPr lang="tr-TR" b="0" i="0" u="none" strike="noStrike" dirty="0">
                <a:effectLst/>
                <a:latin typeface="-apple-system-font"/>
              </a:rPr>
              <a:t>. </a:t>
            </a:r>
          </a:p>
          <a:p>
            <a:pPr algn="l"/>
            <a:r>
              <a:rPr lang="tr-TR" b="0" i="0" u="none" strike="noStrike" dirty="0" err="1">
                <a:effectLst/>
                <a:latin typeface="-webkit-standard"/>
              </a:rPr>
              <a:t>These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metrics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suggest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effectLst/>
                <a:latin typeface="-webkit-standard"/>
              </a:rPr>
              <a:t> model is </a:t>
            </a:r>
            <a:r>
              <a:rPr lang="tr-TR" b="1" i="0" u="none" strike="noStrike" dirty="0" err="1">
                <a:effectLst/>
                <a:latin typeface="-apple-system-font"/>
              </a:rPr>
              <a:t>well-balanced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and</a:t>
            </a:r>
            <a:r>
              <a:rPr lang="tr-TR" b="1" i="0" u="none" strike="noStrike" dirty="0">
                <a:effectLst/>
                <a:latin typeface="-apple-system-font"/>
              </a:rPr>
              <a:t> </a:t>
            </a:r>
            <a:r>
              <a:rPr lang="tr-TR" b="1" i="0" u="none" strike="noStrike" dirty="0" err="1">
                <a:effectLst/>
                <a:latin typeface="-apple-system-font"/>
              </a:rPr>
              <a:t>accurate</a:t>
            </a:r>
            <a:r>
              <a:rPr lang="tr-TR" b="0" i="0" u="none" strike="noStrike" dirty="0">
                <a:effectLst/>
                <a:latin typeface="-webkit-standard"/>
              </a:rPr>
              <a:t>, but </a:t>
            </a:r>
            <a:r>
              <a:rPr lang="tr-TR" b="0" i="0" u="none" strike="noStrike" dirty="0" err="1">
                <a:effectLst/>
                <a:latin typeface="-webkit-standard"/>
              </a:rPr>
              <a:t>with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minor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improvements</a:t>
            </a:r>
            <a:r>
              <a:rPr lang="tr-TR" b="0" i="0" u="none" strike="noStrike" dirty="0">
                <a:effectLst/>
                <a:latin typeface="-webkit-standard"/>
              </a:rPr>
              <a:t>, it </a:t>
            </a:r>
            <a:r>
              <a:rPr lang="tr-TR" b="0" i="0" u="none" strike="noStrike" dirty="0" err="1">
                <a:effectLst/>
                <a:latin typeface="-webkit-standard"/>
              </a:rPr>
              <a:t>could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perform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even</a:t>
            </a:r>
            <a:r>
              <a:rPr lang="tr-TR" b="0" i="0" u="none" strike="noStrike" dirty="0"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effectLst/>
                <a:latin typeface="-webkit-standard"/>
              </a:rPr>
              <a:t>better</a:t>
            </a:r>
            <a:r>
              <a:rPr lang="tr-TR" b="0" i="0" u="none" strike="noStrike" dirty="0">
                <a:effectLst/>
                <a:latin typeface="-webkit-standard"/>
              </a:rPr>
              <a:t>.</a:t>
            </a:r>
            <a:br>
              <a:rPr lang="tr-TR" b="0" i="0" u="none" strike="noStrike" dirty="0">
                <a:effectLst/>
                <a:latin typeface="-apple-system-font"/>
              </a:rPr>
            </a:br>
            <a:endParaRPr lang="tr-TR" b="0" i="0" u="none" strike="noStrike" dirty="0">
              <a:effectLst/>
              <a:latin typeface="-apple-system-font"/>
            </a:endParaRPr>
          </a:p>
          <a:p>
            <a:br>
              <a:rPr lang="tr-TR" dirty="0"/>
            </a:b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180AB-CB4F-6347-868F-CFD2F3C592A8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9691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02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16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6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71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6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6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21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88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5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53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61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10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93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78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98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855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0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022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E53C69EC-76C5-54EA-9094-E0A3EEB43325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E914C42-6018-F5D9-7F51-B489DED02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5121" y="3616037"/>
            <a:ext cx="8676222" cy="1905000"/>
          </a:xfrm>
        </p:spPr>
        <p:txBody>
          <a:bodyPr/>
          <a:lstStyle/>
          <a:p>
            <a:r>
              <a:rPr lang="tr-TR" i="1" dirty="0"/>
              <a:t>EHB420E TERM PROJECT</a:t>
            </a:r>
          </a:p>
          <a:p>
            <a:r>
              <a:rPr lang="tr-TR" i="1" dirty="0"/>
              <a:t>BERKE TÜYLEK</a:t>
            </a:r>
          </a:p>
          <a:p>
            <a:r>
              <a:rPr lang="tr-TR" i="1" dirty="0"/>
              <a:t>040170247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C3478C0-AE65-543C-B5C8-A5AC175EC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5121" y="415637"/>
            <a:ext cx="8676222" cy="3200400"/>
          </a:xfrm>
        </p:spPr>
        <p:txBody>
          <a:bodyPr>
            <a:normAutofit/>
          </a:bodyPr>
          <a:lstStyle/>
          <a:p>
            <a:r>
              <a:rPr lang="tr-TR" sz="3600" b="1" dirty="0" err="1"/>
              <a:t>HeartRisk</a:t>
            </a:r>
            <a:r>
              <a:rPr lang="tr-TR" sz="3600" b="1" dirty="0"/>
              <a:t> AI: </a:t>
            </a:r>
            <a:r>
              <a:rPr lang="tr-TR" sz="3600" b="1" dirty="0" err="1"/>
              <a:t>Predicting</a:t>
            </a:r>
            <a:r>
              <a:rPr lang="tr-TR" sz="3600" b="1" dirty="0"/>
              <a:t> </a:t>
            </a:r>
            <a:r>
              <a:rPr lang="tr-TR" sz="3600" b="1" dirty="0" err="1"/>
              <a:t>Cardiovascular</a:t>
            </a:r>
            <a:r>
              <a:rPr lang="tr-TR" sz="3600" b="1" dirty="0"/>
              <a:t> </a:t>
            </a:r>
            <a:r>
              <a:rPr lang="tr-TR" sz="3600" b="1" dirty="0" err="1"/>
              <a:t>Health</a:t>
            </a:r>
            <a:br>
              <a:rPr lang="tr-TR" sz="7200" b="1" dirty="0"/>
            </a:br>
            <a:endParaRPr lang="tr-TR" sz="7200" b="1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C4DE217-2449-102F-3FC3-E7CB71850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73" y="1602508"/>
            <a:ext cx="3652982" cy="365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1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8E6F29A8-0A6A-5CF4-6344-EE2E1F1FCFF8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13A2FDE-B1A4-7878-76E6-8E62915A9864}"/>
              </a:ext>
            </a:extLst>
          </p:cNvPr>
          <p:cNvSpPr/>
          <p:nvPr/>
        </p:nvSpPr>
        <p:spPr>
          <a:xfrm rot="16200000">
            <a:off x="5835569" y="-5459461"/>
            <a:ext cx="520861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53B12B0-AD8D-9211-E659-090E68620133}"/>
              </a:ext>
            </a:extLst>
          </p:cNvPr>
          <p:cNvSpPr txBox="1"/>
          <p:nvPr/>
        </p:nvSpPr>
        <p:spPr>
          <a:xfrm>
            <a:off x="360218" y="376108"/>
            <a:ext cx="8825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 err="1"/>
              <a:t>Heart</a:t>
            </a:r>
            <a:r>
              <a:rPr lang="tr-TR" sz="2400" b="1" dirty="0"/>
              <a:t> </a:t>
            </a:r>
            <a:r>
              <a:rPr lang="tr-TR" sz="2400" b="1" dirty="0" err="1"/>
              <a:t>Disease</a:t>
            </a:r>
            <a:r>
              <a:rPr lang="tr-TR" sz="2400" b="1" dirty="0"/>
              <a:t> </a:t>
            </a:r>
            <a:r>
              <a:rPr lang="tr-TR" sz="2400" b="1" dirty="0" err="1"/>
              <a:t>Prediction</a:t>
            </a:r>
            <a:r>
              <a:rPr lang="tr-TR" sz="2400" b="1" dirty="0"/>
              <a:t> Using </a:t>
            </a:r>
            <a:r>
              <a:rPr lang="tr-TR" sz="2400" b="1" dirty="0" err="1"/>
              <a:t>Deep</a:t>
            </a:r>
            <a:r>
              <a:rPr lang="tr-TR" sz="2400" b="1" dirty="0"/>
              <a:t> </a:t>
            </a:r>
            <a:r>
              <a:rPr lang="tr-TR" sz="2400" b="1" dirty="0" err="1"/>
              <a:t>Neural</a:t>
            </a:r>
            <a:r>
              <a:rPr lang="tr-TR" sz="2400" b="1" dirty="0"/>
              <a:t> Networks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EACDC9B2-066D-9E49-4F70-346A6F6E0152}"/>
              </a:ext>
            </a:extLst>
          </p:cNvPr>
          <p:cNvSpPr txBox="1"/>
          <p:nvPr/>
        </p:nvSpPr>
        <p:spPr>
          <a:xfrm>
            <a:off x="900545" y="1634836"/>
            <a:ext cx="94349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A </a:t>
            </a:r>
            <a:r>
              <a:rPr lang="tr-TR" sz="2000" b="1" dirty="0" err="1"/>
              <a:t>deep</a:t>
            </a:r>
            <a:r>
              <a:rPr lang="tr-TR" sz="2000" b="1" dirty="0"/>
              <a:t> </a:t>
            </a:r>
            <a:r>
              <a:rPr lang="tr-TR" sz="2000" b="1" dirty="0" err="1"/>
              <a:t>neural</a:t>
            </a:r>
            <a:r>
              <a:rPr lang="tr-TR" sz="2000" b="1" dirty="0"/>
              <a:t> network (DNN) model</a:t>
            </a:r>
            <a:r>
              <a:rPr lang="tr-TR" sz="2000" dirty="0"/>
              <a:t> has </a:t>
            </a:r>
            <a:r>
              <a:rPr lang="tr-TR" sz="2000" dirty="0" err="1"/>
              <a:t>been</a:t>
            </a:r>
            <a:r>
              <a:rPr lang="tr-TR" sz="2000" dirty="0"/>
              <a:t> </a:t>
            </a:r>
            <a:r>
              <a:rPr lang="tr-TR" sz="2000" dirty="0" err="1"/>
              <a:t>developed</a:t>
            </a:r>
            <a:r>
              <a:rPr lang="tr-TR" sz="2000" dirty="0"/>
              <a:t>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predict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risk of </a:t>
            </a:r>
            <a:r>
              <a:rPr lang="tr-TR" sz="2000" dirty="0" err="1"/>
              <a:t>having</a:t>
            </a:r>
            <a:r>
              <a:rPr lang="tr-TR" sz="2000" dirty="0"/>
              <a:t> </a:t>
            </a:r>
            <a:r>
              <a:rPr lang="tr-TR" sz="2000" dirty="0" err="1"/>
              <a:t>heart</a:t>
            </a:r>
            <a:r>
              <a:rPr lang="tr-TR" sz="2000" dirty="0"/>
              <a:t> </a:t>
            </a:r>
            <a:r>
              <a:rPr lang="tr-TR" sz="2000" dirty="0" err="1"/>
              <a:t>disease</a:t>
            </a:r>
            <a:r>
              <a:rPr lang="tr-TR" sz="2000" dirty="0"/>
              <a:t>. </a:t>
            </a:r>
            <a:r>
              <a:rPr lang="tr-TR" sz="2000" dirty="0" err="1"/>
              <a:t>Based</a:t>
            </a:r>
            <a:r>
              <a:rPr lang="tr-TR" sz="2000" dirty="0"/>
              <a:t> on a </a:t>
            </a:r>
            <a:r>
              <a:rPr lang="tr-TR" sz="2000" dirty="0" err="1"/>
              <a:t>patient’s</a:t>
            </a:r>
            <a:r>
              <a:rPr lang="tr-TR" sz="2000" dirty="0"/>
              <a:t> </a:t>
            </a:r>
            <a:r>
              <a:rPr lang="tr-TR" sz="2000" dirty="0" err="1"/>
              <a:t>clinical</a:t>
            </a:r>
            <a:r>
              <a:rPr lang="tr-TR" sz="2000" dirty="0"/>
              <a:t> data, </a:t>
            </a:r>
            <a:r>
              <a:rPr lang="tr-TR" sz="2000" dirty="0" err="1"/>
              <a:t>the</a:t>
            </a:r>
            <a:r>
              <a:rPr lang="tr-TR" sz="2000" dirty="0"/>
              <a:t> model </a:t>
            </a:r>
            <a:r>
              <a:rPr lang="tr-TR" sz="2000" b="1" dirty="0" err="1"/>
              <a:t>predicts</a:t>
            </a:r>
            <a:r>
              <a:rPr lang="tr-TR" sz="2000" dirty="0"/>
              <a:t> </a:t>
            </a:r>
            <a:r>
              <a:rPr lang="tr-TR" sz="2000" dirty="0" err="1"/>
              <a:t>whether</a:t>
            </a:r>
            <a:r>
              <a:rPr lang="tr-TR" sz="2000" dirty="0"/>
              <a:t> they </a:t>
            </a:r>
            <a:r>
              <a:rPr lang="tr-TR" sz="2000" dirty="0" err="1"/>
              <a:t>have</a:t>
            </a:r>
            <a:r>
              <a:rPr lang="tr-TR" sz="2000" dirty="0"/>
              <a:t> </a:t>
            </a:r>
            <a:r>
              <a:rPr lang="tr-TR" sz="2000" dirty="0" err="1"/>
              <a:t>heart</a:t>
            </a:r>
            <a:r>
              <a:rPr lang="tr-TR" sz="2000" dirty="0"/>
              <a:t> </a:t>
            </a:r>
            <a:r>
              <a:rPr lang="tr-TR" sz="2000" dirty="0" err="1"/>
              <a:t>disease</a:t>
            </a:r>
            <a:r>
              <a:rPr lang="tr-TR" sz="2000" dirty="0"/>
              <a:t>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  <a:p>
            <a:r>
              <a:rPr lang="tr-TR" sz="2000" b="1" dirty="0"/>
              <a:t>Data Source: </a:t>
            </a:r>
            <a:r>
              <a:rPr lang="tr-TR" sz="2000" dirty="0"/>
              <a:t>UCI </a:t>
            </a:r>
            <a:r>
              <a:rPr lang="tr-TR" sz="2000" dirty="0" err="1"/>
              <a:t>Heart</a:t>
            </a:r>
            <a:r>
              <a:rPr lang="tr-TR" sz="2000" dirty="0"/>
              <a:t> </a:t>
            </a:r>
            <a:r>
              <a:rPr lang="tr-TR" sz="2000" dirty="0" err="1"/>
              <a:t>Disease</a:t>
            </a:r>
            <a:r>
              <a:rPr lang="tr-TR" sz="2000" dirty="0"/>
              <a:t> </a:t>
            </a:r>
            <a:r>
              <a:rPr lang="tr-TR" sz="2000" dirty="0" err="1"/>
              <a:t>dataset</a:t>
            </a:r>
            <a:r>
              <a:rPr lang="tr-TR" sz="2000" dirty="0"/>
              <a:t> </a:t>
            </a:r>
            <a:r>
              <a:rPr lang="tr-TR" sz="2000" dirty="0" err="1"/>
              <a:t>was</a:t>
            </a:r>
            <a:r>
              <a:rPr lang="tr-TR" sz="2000" dirty="0"/>
              <a:t> </a:t>
            </a:r>
            <a:r>
              <a:rPr lang="tr-TR" sz="2000" dirty="0" err="1"/>
              <a:t>used</a:t>
            </a:r>
            <a:r>
              <a:rPr lang="tr-TR" sz="2000" dirty="0"/>
              <a:t> (Cleveland </a:t>
            </a:r>
            <a:r>
              <a:rPr lang="tr-TR" sz="2000" dirty="0" err="1"/>
              <a:t>Heart</a:t>
            </a:r>
            <a:r>
              <a:rPr lang="tr-TR" sz="2000" dirty="0"/>
              <a:t> </a:t>
            </a:r>
            <a:r>
              <a:rPr lang="tr-TR" sz="2000" dirty="0" err="1"/>
              <a:t>Disease</a:t>
            </a:r>
            <a:r>
              <a:rPr lang="tr-TR" sz="2000" dirty="0"/>
              <a:t> </a:t>
            </a:r>
            <a:r>
              <a:rPr lang="tr-TR" sz="2000" dirty="0" err="1"/>
              <a:t>dataset</a:t>
            </a:r>
            <a:r>
              <a:rPr lang="tr-TR" sz="2000" dirty="0"/>
              <a:t>).</a:t>
            </a:r>
          </a:p>
          <a:p>
            <a:r>
              <a:rPr lang="tr-TR" sz="2000" b="1" dirty="0"/>
              <a:t>URL: </a:t>
            </a:r>
            <a:r>
              <a:rPr lang="tr-TR" sz="2000" dirty="0" err="1"/>
              <a:t>https</a:t>
            </a:r>
            <a:r>
              <a:rPr lang="tr-TR" sz="2000" dirty="0"/>
              <a:t>://</a:t>
            </a:r>
            <a:r>
              <a:rPr lang="tr-TR" sz="2000" dirty="0" err="1"/>
              <a:t>archive.ics.uci.edu</a:t>
            </a:r>
            <a:r>
              <a:rPr lang="tr-TR" sz="2000" dirty="0"/>
              <a:t>/</a:t>
            </a:r>
            <a:r>
              <a:rPr lang="tr-TR" sz="2000" dirty="0" err="1"/>
              <a:t>dataset</a:t>
            </a:r>
            <a:r>
              <a:rPr lang="tr-TR" sz="2000" dirty="0"/>
              <a:t>/45/</a:t>
            </a:r>
            <a:r>
              <a:rPr lang="tr-TR" sz="2000" dirty="0" err="1"/>
              <a:t>heart+disease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681524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72484-BF9D-7AE7-C643-AD70FBC3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599F2A82-1FA7-14C2-69F6-95347CFE93BE}"/>
              </a:ext>
            </a:extLst>
          </p:cNvPr>
          <p:cNvSpPr/>
          <p:nvPr/>
        </p:nvSpPr>
        <p:spPr>
          <a:xfrm rot="16200000">
            <a:off x="5835569" y="-5459461"/>
            <a:ext cx="520861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CA110AF-C042-63AD-886A-F5F42D9A4BD3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D81428C-A9F2-669D-FDE4-4E1AE33D1A95}"/>
              </a:ext>
            </a:extLst>
          </p:cNvPr>
          <p:cNvSpPr txBox="1"/>
          <p:nvPr/>
        </p:nvSpPr>
        <p:spPr>
          <a:xfrm>
            <a:off x="360218" y="376108"/>
            <a:ext cx="5278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DATASET AND FEATURES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EA58667F-8339-A809-E428-3BBC7FF4BA8B}"/>
              </a:ext>
            </a:extLst>
          </p:cNvPr>
          <p:cNvSpPr txBox="1"/>
          <p:nvPr/>
        </p:nvSpPr>
        <p:spPr>
          <a:xfrm>
            <a:off x="900545" y="1575639"/>
            <a:ext cx="89500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>
                <a:solidFill>
                  <a:srgbClr val="FF0000"/>
                </a:solidFill>
              </a:rPr>
              <a:t>Properties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Contains</a:t>
            </a:r>
            <a:r>
              <a:rPr lang="tr-TR" dirty="0"/>
              <a:t> 13 </a:t>
            </a:r>
            <a:r>
              <a:rPr lang="tr-TR" dirty="0" err="1"/>
              <a:t>properties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1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.</a:t>
            </a:r>
          </a:p>
          <a:p>
            <a:endParaRPr lang="tr-TR" dirty="0"/>
          </a:p>
          <a:p>
            <a:r>
              <a:rPr lang="tr-TR" b="1" dirty="0">
                <a:solidFill>
                  <a:srgbClr val="FF0000"/>
                </a:solidFill>
              </a:rPr>
              <a:t>Data Set Content:</a:t>
            </a:r>
            <a:r>
              <a:rPr lang="tr-TR" dirty="0"/>
              <a:t> </a:t>
            </a:r>
            <a:r>
              <a:rPr lang="tr-TR" dirty="0" err="1"/>
              <a:t>Contains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age</a:t>
            </a:r>
            <a:r>
              <a:rPr lang="tr-TR" dirty="0"/>
              <a:t>, </a:t>
            </a:r>
            <a:r>
              <a:rPr lang="tr-TR" dirty="0" err="1"/>
              <a:t>gender</a:t>
            </a:r>
            <a:r>
              <a:rPr lang="tr-TR" dirty="0"/>
              <a:t>, </a:t>
            </a:r>
            <a:r>
              <a:rPr lang="tr-TR" dirty="0" err="1"/>
              <a:t>chest</a:t>
            </a:r>
            <a:r>
              <a:rPr lang="tr-TR" dirty="0"/>
              <a:t> </a:t>
            </a:r>
            <a:r>
              <a:rPr lang="tr-TR" dirty="0" err="1"/>
              <a:t>pain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 (</a:t>
            </a:r>
            <a:r>
              <a:rPr lang="tr-TR" dirty="0" err="1"/>
              <a:t>cp</a:t>
            </a:r>
            <a:r>
              <a:rPr lang="tr-TR" dirty="0"/>
              <a:t>), </a:t>
            </a:r>
            <a:r>
              <a:rPr lang="tr-TR" dirty="0" err="1"/>
              <a:t>blood</a:t>
            </a:r>
            <a:r>
              <a:rPr lang="tr-TR" dirty="0"/>
              <a:t> </a:t>
            </a:r>
            <a:r>
              <a:rPr lang="tr-TR" dirty="0" err="1"/>
              <a:t>pressure</a:t>
            </a:r>
            <a:r>
              <a:rPr lang="tr-TR" dirty="0"/>
              <a:t>, </a:t>
            </a:r>
            <a:r>
              <a:rPr lang="tr-TR" dirty="0" err="1"/>
              <a:t>cholesterol</a:t>
            </a:r>
            <a:r>
              <a:rPr lang="tr-TR" dirty="0"/>
              <a:t>, </a:t>
            </a:r>
            <a:r>
              <a:rPr lang="tr-TR" dirty="0" err="1"/>
              <a:t>exercise</a:t>
            </a:r>
            <a:r>
              <a:rPr lang="tr-TR" dirty="0"/>
              <a:t>, </a:t>
            </a:r>
            <a:r>
              <a:rPr lang="tr-TR" dirty="0" err="1"/>
              <a:t>etc</a:t>
            </a:r>
            <a:r>
              <a:rPr lang="tr-TR" dirty="0"/>
              <a:t>. </a:t>
            </a:r>
            <a:r>
              <a:rPr lang="tr-TR" dirty="0" err="1"/>
              <a:t>Target</a:t>
            </a:r>
            <a:r>
              <a:rPr lang="tr-TR" dirty="0"/>
              <a:t> Value: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there</a:t>
            </a:r>
            <a:r>
              <a:rPr lang="tr-TR" dirty="0"/>
              <a:t> is </a:t>
            </a:r>
            <a:r>
              <a:rPr lang="tr-TR" dirty="0" err="1"/>
              <a:t>heart</a:t>
            </a:r>
            <a:r>
              <a:rPr lang="tr-TR" dirty="0"/>
              <a:t> </a:t>
            </a:r>
            <a:r>
              <a:rPr lang="tr-TR" dirty="0" err="1"/>
              <a:t>disease</a:t>
            </a:r>
            <a:r>
              <a:rPr lang="tr-TR" dirty="0"/>
              <a:t> (</a:t>
            </a:r>
            <a:r>
              <a:rPr lang="tr-TR" dirty="0" err="1"/>
              <a:t>binary</a:t>
            </a:r>
            <a:r>
              <a:rPr lang="tr-TR" dirty="0"/>
              <a:t>: 0 =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disease</a:t>
            </a:r>
            <a:r>
              <a:rPr lang="tr-TR" dirty="0"/>
              <a:t>, 1 = </a:t>
            </a:r>
            <a:r>
              <a:rPr lang="tr-TR" dirty="0" err="1"/>
              <a:t>disease</a:t>
            </a:r>
            <a:r>
              <a:rPr lang="tr-TR" dirty="0"/>
              <a:t>).</a:t>
            </a:r>
          </a:p>
          <a:p>
            <a:endParaRPr lang="tr-TR" dirty="0"/>
          </a:p>
          <a:p>
            <a:r>
              <a:rPr lang="tr-TR" b="1" dirty="0" err="1">
                <a:solidFill>
                  <a:srgbClr val="FF0000"/>
                </a:solidFill>
              </a:rPr>
              <a:t>Numerical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Features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Age, </a:t>
            </a:r>
            <a:r>
              <a:rPr lang="tr-TR" dirty="0" err="1"/>
              <a:t>blood</a:t>
            </a:r>
            <a:r>
              <a:rPr lang="tr-TR" dirty="0"/>
              <a:t> </a:t>
            </a:r>
            <a:r>
              <a:rPr lang="tr-TR" dirty="0" err="1"/>
              <a:t>pressure</a:t>
            </a:r>
            <a:r>
              <a:rPr lang="tr-TR" dirty="0"/>
              <a:t>, </a:t>
            </a:r>
            <a:r>
              <a:rPr lang="tr-TR" dirty="0" err="1"/>
              <a:t>cholesterol</a:t>
            </a:r>
            <a:r>
              <a:rPr lang="tr-TR" dirty="0"/>
              <a:t>, </a:t>
            </a:r>
            <a:r>
              <a:rPr lang="tr-TR" dirty="0" err="1"/>
              <a:t>maximum</a:t>
            </a:r>
            <a:r>
              <a:rPr lang="tr-TR" dirty="0"/>
              <a:t> </a:t>
            </a:r>
            <a:r>
              <a:rPr lang="tr-TR" dirty="0" err="1"/>
              <a:t>heart</a:t>
            </a:r>
            <a:r>
              <a:rPr lang="tr-TR" dirty="0"/>
              <a:t> rate, </a:t>
            </a:r>
            <a:r>
              <a:rPr lang="tr-TR" dirty="0" err="1"/>
              <a:t>etc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Categorical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Features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Gender</a:t>
            </a:r>
            <a:r>
              <a:rPr lang="tr-TR" dirty="0"/>
              <a:t>, </a:t>
            </a:r>
            <a:r>
              <a:rPr lang="tr-TR" dirty="0" err="1"/>
              <a:t>exercise</a:t>
            </a:r>
            <a:r>
              <a:rPr lang="tr-TR" dirty="0"/>
              <a:t> </a:t>
            </a:r>
            <a:r>
              <a:rPr lang="tr-TR" dirty="0" err="1"/>
              <a:t>status</a:t>
            </a:r>
            <a:r>
              <a:rPr lang="tr-TR" dirty="0"/>
              <a:t>, </a:t>
            </a:r>
            <a:r>
              <a:rPr lang="tr-TR" dirty="0" err="1"/>
              <a:t>chest</a:t>
            </a:r>
            <a:r>
              <a:rPr lang="tr-TR" dirty="0"/>
              <a:t> </a:t>
            </a:r>
            <a:r>
              <a:rPr lang="tr-TR" dirty="0" err="1"/>
              <a:t>pain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, </a:t>
            </a:r>
            <a:r>
              <a:rPr lang="tr-TR" dirty="0" err="1"/>
              <a:t>etc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287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66C8-1FFF-1F8F-F3D7-C4A7275D6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0667969E-F0CA-B3AD-074B-C39280B500B0}"/>
              </a:ext>
            </a:extLst>
          </p:cNvPr>
          <p:cNvSpPr/>
          <p:nvPr/>
        </p:nvSpPr>
        <p:spPr>
          <a:xfrm rot="16200000">
            <a:off x="5835569" y="-5459461"/>
            <a:ext cx="520861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26AA7FF-6C1B-4D83-980A-F2062329BD05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85607EA-D8FD-2339-F64F-E94E9AED3A20}"/>
              </a:ext>
            </a:extLst>
          </p:cNvPr>
          <p:cNvSpPr txBox="1"/>
          <p:nvPr/>
        </p:nvSpPr>
        <p:spPr>
          <a:xfrm>
            <a:off x="360218" y="376108"/>
            <a:ext cx="5278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DATA PREPROCESSING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3B8AFFBA-B541-7BF8-9924-74A22D6F0F57}"/>
              </a:ext>
            </a:extLst>
          </p:cNvPr>
          <p:cNvSpPr txBox="1"/>
          <p:nvPr/>
        </p:nvSpPr>
        <p:spPr>
          <a:xfrm>
            <a:off x="900545" y="1575639"/>
            <a:ext cx="8950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>
                <a:solidFill>
                  <a:srgbClr val="FF0000"/>
                </a:solidFill>
              </a:rPr>
              <a:t>Cleaning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Missing</a:t>
            </a:r>
            <a:r>
              <a:rPr lang="tr-TR" b="1" dirty="0">
                <a:solidFill>
                  <a:srgbClr val="FF0000"/>
                </a:solidFill>
              </a:rPr>
              <a:t> Data: </a:t>
            </a:r>
            <a:r>
              <a:rPr lang="tr-TR" dirty="0" err="1"/>
              <a:t>Missing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​​(?) in </a:t>
            </a:r>
            <a:r>
              <a:rPr lang="tr-TR" dirty="0" err="1"/>
              <a:t>the</a:t>
            </a:r>
            <a:r>
              <a:rPr lang="tr-TR" dirty="0"/>
              <a:t> data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deleted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Converting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Target</a:t>
            </a:r>
            <a:r>
              <a:rPr lang="tr-TR" b="1" dirty="0">
                <a:solidFill>
                  <a:srgbClr val="FF0000"/>
                </a:solidFill>
              </a:rPr>
              <a:t> Value </a:t>
            </a:r>
            <a:r>
              <a:rPr lang="tr-TR" b="1" dirty="0" err="1">
                <a:solidFill>
                  <a:srgbClr val="FF0000"/>
                </a:solidFill>
              </a:rPr>
              <a:t>to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Binary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I </a:t>
            </a:r>
            <a:r>
              <a:rPr lang="tr-TR" dirty="0" err="1"/>
              <a:t>made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</a:t>
            </a:r>
            <a:r>
              <a:rPr lang="tr-TR" dirty="0" err="1"/>
              <a:t>binary</a:t>
            </a:r>
            <a:r>
              <a:rPr lang="tr-TR" dirty="0"/>
              <a:t> (0 </a:t>
            </a:r>
            <a:r>
              <a:rPr lang="tr-TR" dirty="0" err="1"/>
              <a:t>and</a:t>
            </a:r>
            <a:r>
              <a:rPr lang="tr-TR" dirty="0"/>
              <a:t> 1)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indicate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there</a:t>
            </a:r>
            <a:r>
              <a:rPr lang="tr-TR" dirty="0"/>
              <a:t> is </a:t>
            </a:r>
            <a:r>
              <a:rPr lang="tr-TR" dirty="0" err="1"/>
              <a:t>heart</a:t>
            </a:r>
            <a:r>
              <a:rPr lang="tr-TR" dirty="0"/>
              <a:t> </a:t>
            </a:r>
            <a:r>
              <a:rPr lang="tr-TR" dirty="0" err="1"/>
              <a:t>disease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Separation</a:t>
            </a:r>
            <a:r>
              <a:rPr lang="tr-TR" b="1" dirty="0">
                <a:solidFill>
                  <a:srgbClr val="FF0000"/>
                </a:solidFill>
              </a:rPr>
              <a:t> of </a:t>
            </a:r>
            <a:r>
              <a:rPr lang="tr-TR" b="1" dirty="0" err="1">
                <a:solidFill>
                  <a:srgbClr val="FF0000"/>
                </a:solidFill>
              </a:rPr>
              <a:t>Attributes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Data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categorical</a:t>
            </a:r>
            <a:r>
              <a:rPr lang="tr-TR" dirty="0"/>
              <a:t> </a:t>
            </a:r>
            <a:r>
              <a:rPr lang="tr-TR" dirty="0" err="1"/>
              <a:t>attributes</a:t>
            </a:r>
            <a:r>
              <a:rPr lang="tr-TR" dirty="0"/>
              <a:t>.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70D4825-1649-8376-0351-590EB1664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245811"/>
            <a:ext cx="7772400" cy="2936240"/>
          </a:xfrm>
          <a:prstGeom prst="rect">
            <a:avLst/>
          </a:prstGeom>
          <a:effectLst>
            <a:glow rad="1119707">
              <a:schemeClr val="accent1"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568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8A24-8EE1-0A76-D93E-303BACEA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4BF829FF-473C-B216-C383-5DAEF53BD94F}"/>
              </a:ext>
            </a:extLst>
          </p:cNvPr>
          <p:cNvSpPr/>
          <p:nvPr/>
        </p:nvSpPr>
        <p:spPr>
          <a:xfrm rot="16200000">
            <a:off x="5835569" y="-5459461"/>
            <a:ext cx="520861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5AB2327-4A88-C1F8-97F1-F90451F4D27B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63D9D3D-4FE0-1C4E-1065-0EA503D724AA}"/>
              </a:ext>
            </a:extLst>
          </p:cNvPr>
          <p:cNvSpPr txBox="1"/>
          <p:nvPr/>
        </p:nvSpPr>
        <p:spPr>
          <a:xfrm>
            <a:off x="360218" y="376108"/>
            <a:ext cx="5278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MODEL STRUCTURE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4B6ECF92-3CB3-8EE0-DDDF-FBA672822CF9}"/>
              </a:ext>
            </a:extLst>
          </p:cNvPr>
          <p:cNvSpPr txBox="1"/>
          <p:nvPr/>
        </p:nvSpPr>
        <p:spPr>
          <a:xfrm>
            <a:off x="900545" y="1575639"/>
            <a:ext cx="8950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Model </a:t>
            </a:r>
            <a:r>
              <a:rPr lang="tr-TR" b="1" dirty="0" err="1">
                <a:solidFill>
                  <a:srgbClr val="FF0000"/>
                </a:solidFill>
              </a:rPr>
              <a:t>Type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Deep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Network (DNN).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Layers: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Layer</a:t>
            </a:r>
            <a:r>
              <a:rPr lang="tr-TR" dirty="0"/>
              <a:t>: </a:t>
            </a:r>
            <a:r>
              <a:rPr lang="tr-TR" dirty="0" err="1"/>
              <a:t>Input</a:t>
            </a:r>
            <a:r>
              <a:rPr lang="tr-TR" dirty="0"/>
              <a:t> </a:t>
            </a:r>
            <a:r>
              <a:rPr lang="tr-TR" dirty="0" err="1"/>
              <a:t>layer</a:t>
            </a:r>
            <a:r>
              <a:rPr lang="tr-TR" dirty="0"/>
              <a:t> </a:t>
            </a:r>
            <a:r>
              <a:rPr lang="tr-TR" dirty="0" err="1"/>
              <a:t>determined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features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Intermediate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Layers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Two dense </a:t>
            </a:r>
            <a:r>
              <a:rPr lang="tr-TR" dirty="0" err="1"/>
              <a:t>layers</a:t>
            </a:r>
            <a:r>
              <a:rPr lang="tr-TR" dirty="0"/>
              <a:t> </a:t>
            </a:r>
            <a:r>
              <a:rPr lang="tr-TR" dirty="0" err="1"/>
              <a:t>consisting</a:t>
            </a:r>
            <a:r>
              <a:rPr lang="tr-TR" dirty="0"/>
              <a:t> of 64 </a:t>
            </a:r>
            <a:r>
              <a:rPr lang="tr-TR" dirty="0" err="1"/>
              <a:t>and</a:t>
            </a:r>
            <a:r>
              <a:rPr lang="tr-TR" dirty="0"/>
              <a:t> 32 </a:t>
            </a:r>
            <a:r>
              <a:rPr lang="tr-TR" dirty="0" err="1"/>
              <a:t>neurons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Dropout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Two </a:t>
            </a:r>
            <a:r>
              <a:rPr lang="tr-TR" dirty="0" err="1"/>
              <a:t>dropout</a:t>
            </a:r>
            <a:r>
              <a:rPr lang="tr-TR" dirty="0"/>
              <a:t> </a:t>
            </a:r>
            <a:r>
              <a:rPr lang="tr-TR" dirty="0" err="1"/>
              <a:t>layers</a:t>
            </a:r>
            <a:r>
              <a:rPr lang="tr-TR" dirty="0"/>
              <a:t> (0.3 </a:t>
            </a:r>
            <a:r>
              <a:rPr lang="tr-TR" dirty="0" err="1"/>
              <a:t>and</a:t>
            </a:r>
            <a:r>
              <a:rPr lang="tr-TR" dirty="0"/>
              <a:t> 0.2)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prevent</a:t>
            </a:r>
            <a:r>
              <a:rPr lang="tr-TR" dirty="0"/>
              <a:t> </a:t>
            </a:r>
            <a:r>
              <a:rPr lang="tr-TR" dirty="0" err="1"/>
              <a:t>overfitting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Output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Layer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Heart</a:t>
            </a:r>
            <a:r>
              <a:rPr lang="tr-TR" dirty="0"/>
              <a:t> </a:t>
            </a:r>
            <a:r>
              <a:rPr lang="tr-TR" dirty="0" err="1"/>
              <a:t>disease</a:t>
            </a:r>
            <a:r>
              <a:rPr lang="tr-TR" dirty="0"/>
              <a:t> risk </a:t>
            </a:r>
            <a:r>
              <a:rPr lang="tr-TR" dirty="0" err="1"/>
              <a:t>prediction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sigmoid </a:t>
            </a:r>
            <a:r>
              <a:rPr lang="tr-TR" dirty="0" err="1"/>
              <a:t>activation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.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B04CEAF4-CEAD-6214-51C6-9DFB1A939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271108"/>
            <a:ext cx="7772400" cy="299231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effectLst>
            <a:glow rad="1055155"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88799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680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CFA53-E501-ED72-A5B2-650CDD40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F255A077-38B2-680F-4C6F-0938600826F3}"/>
              </a:ext>
            </a:extLst>
          </p:cNvPr>
          <p:cNvSpPr/>
          <p:nvPr/>
        </p:nvSpPr>
        <p:spPr>
          <a:xfrm rot="16200000">
            <a:off x="5835569" y="-5459461"/>
            <a:ext cx="520861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709654B-58A6-2E4A-DB9A-A34B9BB631AA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942D27F-7C4A-A4EF-5574-EDBC5ED03DC4}"/>
              </a:ext>
            </a:extLst>
          </p:cNvPr>
          <p:cNvSpPr txBox="1"/>
          <p:nvPr/>
        </p:nvSpPr>
        <p:spPr>
          <a:xfrm>
            <a:off x="360218" y="376108"/>
            <a:ext cx="5278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MODEL STRUCTURE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31AE4426-39E8-2C31-F7F7-A49E56A35DBA}"/>
              </a:ext>
            </a:extLst>
          </p:cNvPr>
          <p:cNvSpPr txBox="1"/>
          <p:nvPr/>
        </p:nvSpPr>
        <p:spPr>
          <a:xfrm>
            <a:off x="900545" y="1575639"/>
            <a:ext cx="89500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Training Data </a:t>
            </a:r>
            <a:r>
              <a:rPr lang="tr-TR" b="1" dirty="0" err="1">
                <a:solidFill>
                  <a:srgbClr val="FF0000"/>
                </a:solidFill>
              </a:rPr>
              <a:t>and</a:t>
            </a:r>
            <a:r>
              <a:rPr lang="tr-TR" b="1" dirty="0">
                <a:solidFill>
                  <a:srgbClr val="FF0000"/>
                </a:solidFill>
              </a:rPr>
              <a:t> Test Data: </a:t>
            </a:r>
            <a:r>
              <a:rPr lang="tr-TR" dirty="0"/>
              <a:t>Data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divided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80% </a:t>
            </a:r>
            <a:r>
              <a:rPr lang="tr-TR" dirty="0" err="1"/>
              <a:t>training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20% </a:t>
            </a:r>
            <a:r>
              <a:rPr lang="tr-TR" dirty="0" err="1"/>
              <a:t>testing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Optimization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Method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Adam </a:t>
            </a:r>
            <a:r>
              <a:rPr lang="tr-TR" dirty="0" err="1"/>
              <a:t>optimization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Loss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Function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Binary</a:t>
            </a:r>
            <a:r>
              <a:rPr lang="tr-TR" dirty="0"/>
              <a:t> </a:t>
            </a:r>
            <a:r>
              <a:rPr lang="tr-TR" dirty="0" err="1"/>
              <a:t>cross-entropy</a:t>
            </a:r>
            <a:r>
              <a:rPr lang="tr-TR" dirty="0"/>
              <a:t> </a:t>
            </a:r>
            <a:r>
              <a:rPr lang="tr-TR" dirty="0" err="1"/>
              <a:t>loss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.</a:t>
            </a:r>
          </a:p>
          <a:p>
            <a:r>
              <a:rPr lang="tr-TR" b="1" dirty="0">
                <a:solidFill>
                  <a:srgbClr val="FF0000"/>
                </a:solidFill>
              </a:rPr>
              <a:t>Training </a:t>
            </a:r>
            <a:r>
              <a:rPr lang="tr-TR" b="1" dirty="0" err="1">
                <a:solidFill>
                  <a:srgbClr val="FF0000"/>
                </a:solidFill>
              </a:rPr>
              <a:t>Parameters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50 </a:t>
            </a:r>
            <a:r>
              <a:rPr lang="tr-TR" dirty="0" err="1"/>
              <a:t>epochs</a:t>
            </a:r>
            <a:r>
              <a:rPr lang="tr-TR" dirty="0"/>
              <a:t>, </a:t>
            </a:r>
            <a:r>
              <a:rPr lang="tr-TR" dirty="0" err="1"/>
              <a:t>batch</a:t>
            </a:r>
            <a:r>
              <a:rPr lang="tr-TR" dirty="0"/>
              <a:t> size = 32, </a:t>
            </a:r>
            <a:r>
              <a:rPr lang="tr-TR" dirty="0" err="1"/>
              <a:t>validation</a:t>
            </a:r>
            <a:r>
              <a:rPr lang="tr-TR" dirty="0"/>
              <a:t> </a:t>
            </a:r>
            <a:r>
              <a:rPr lang="tr-TR" dirty="0" err="1"/>
              <a:t>split</a:t>
            </a:r>
            <a:r>
              <a:rPr lang="tr-TR" dirty="0"/>
              <a:t> = 0.2.</a:t>
            </a:r>
          </a:p>
          <a:p>
            <a:endParaRPr lang="tr-TR" dirty="0"/>
          </a:p>
          <a:p>
            <a:r>
              <a:rPr lang="tr-TR" b="1" dirty="0">
                <a:solidFill>
                  <a:srgbClr val="FF0000"/>
                </a:solidFill>
              </a:rPr>
              <a:t>Model </a:t>
            </a:r>
            <a:r>
              <a:rPr lang="tr-TR" b="1" dirty="0" err="1">
                <a:solidFill>
                  <a:srgbClr val="FF0000"/>
                </a:solidFill>
              </a:rPr>
              <a:t>Performance</a:t>
            </a:r>
            <a:r>
              <a:rPr lang="tr-TR" b="1" dirty="0">
                <a:solidFill>
                  <a:srgbClr val="FF0000"/>
                </a:solidFill>
              </a:rPr>
              <a:t>:</a:t>
            </a:r>
          </a:p>
          <a:p>
            <a:endParaRPr lang="tr-TR" dirty="0"/>
          </a:p>
          <a:p>
            <a:r>
              <a:rPr lang="tr-TR" b="1" dirty="0" err="1">
                <a:solidFill>
                  <a:srgbClr val="FF0000"/>
                </a:solidFill>
              </a:rPr>
              <a:t>Accuracy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Indicates</a:t>
            </a:r>
            <a:r>
              <a:rPr lang="tr-TR" dirty="0"/>
              <a:t> how </a:t>
            </a:r>
            <a:r>
              <a:rPr lang="tr-TR" dirty="0" err="1"/>
              <a:t>accurate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model's</a:t>
            </a:r>
            <a:r>
              <a:rPr lang="tr-TR" dirty="0"/>
              <a:t> </a:t>
            </a:r>
            <a:r>
              <a:rPr lang="tr-TR" dirty="0" err="1"/>
              <a:t>predictions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.</a:t>
            </a:r>
          </a:p>
          <a:p>
            <a:r>
              <a:rPr lang="tr-TR" b="1" dirty="0">
                <a:solidFill>
                  <a:srgbClr val="FF0000"/>
                </a:solidFill>
              </a:rPr>
              <a:t>Precision: </a:t>
            </a:r>
            <a:r>
              <a:rPr lang="tr-TR" dirty="0" err="1"/>
              <a:t>Indicates</a:t>
            </a:r>
            <a:r>
              <a:rPr lang="tr-TR" dirty="0"/>
              <a:t> how </a:t>
            </a:r>
            <a:r>
              <a:rPr lang="tr-TR" dirty="0" err="1"/>
              <a:t>accurate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model's</a:t>
            </a:r>
            <a:r>
              <a:rPr lang="tr-TR" dirty="0"/>
              <a:t> </a:t>
            </a:r>
            <a:r>
              <a:rPr lang="tr-TR" dirty="0" err="1"/>
              <a:t>positive</a:t>
            </a:r>
            <a:r>
              <a:rPr lang="tr-TR" dirty="0"/>
              <a:t> </a:t>
            </a:r>
            <a:r>
              <a:rPr lang="tr-TR" dirty="0" err="1"/>
              <a:t>predictions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.</a:t>
            </a:r>
          </a:p>
          <a:p>
            <a:r>
              <a:rPr lang="tr-TR" b="1" dirty="0" err="1">
                <a:solidFill>
                  <a:srgbClr val="FF0000"/>
                </a:solidFill>
              </a:rPr>
              <a:t>Recall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Indicates</a:t>
            </a:r>
            <a:r>
              <a:rPr lang="tr-TR" dirty="0"/>
              <a:t> how </a:t>
            </a:r>
            <a:r>
              <a:rPr lang="tr-TR" dirty="0" err="1"/>
              <a:t>well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detects</a:t>
            </a:r>
            <a:r>
              <a:rPr lang="tr-TR" dirty="0"/>
              <a:t> </a:t>
            </a:r>
            <a:r>
              <a:rPr lang="tr-TR" dirty="0" err="1"/>
              <a:t>true</a:t>
            </a:r>
            <a:r>
              <a:rPr lang="tr-TR" dirty="0"/>
              <a:t> </a:t>
            </a:r>
            <a:r>
              <a:rPr lang="tr-TR" dirty="0" err="1"/>
              <a:t>positives</a:t>
            </a:r>
            <a:r>
              <a:rPr lang="tr-TR" dirty="0"/>
              <a:t>.</a:t>
            </a:r>
          </a:p>
          <a:p>
            <a:r>
              <a:rPr lang="tr-TR" b="1" dirty="0">
                <a:solidFill>
                  <a:srgbClr val="FF0000"/>
                </a:solidFill>
              </a:rPr>
              <a:t>ROC-AUC </a:t>
            </a:r>
            <a:r>
              <a:rPr lang="tr-TR" b="1" dirty="0" err="1">
                <a:solidFill>
                  <a:srgbClr val="FF0000"/>
                </a:solidFill>
              </a:rPr>
              <a:t>Score</a:t>
            </a:r>
            <a:r>
              <a:rPr lang="tr-TR" b="1" dirty="0">
                <a:solidFill>
                  <a:srgbClr val="FF0000"/>
                </a:solidFill>
              </a:rPr>
              <a:t>: </a:t>
            </a:r>
            <a:r>
              <a:rPr lang="tr-TR" dirty="0"/>
              <a:t>An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evaluation</a:t>
            </a:r>
            <a:r>
              <a:rPr lang="tr-TR" dirty="0"/>
              <a:t> </a:t>
            </a:r>
            <a:r>
              <a:rPr lang="tr-TR" dirty="0" err="1"/>
              <a:t>metric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overall</a:t>
            </a:r>
            <a:r>
              <a:rPr lang="tr-TR" dirty="0"/>
              <a:t> </a:t>
            </a:r>
            <a:r>
              <a:rPr lang="tr-TR" dirty="0" err="1"/>
              <a:t>success</a:t>
            </a:r>
            <a:r>
              <a:rPr lang="tr-TR" dirty="0"/>
              <a:t> rate of </a:t>
            </a:r>
            <a:r>
              <a:rPr lang="tr-TR" dirty="0" err="1"/>
              <a:t>the</a:t>
            </a:r>
            <a:r>
              <a:rPr lang="tr-TR" dirty="0"/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362327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C084-B95A-E98E-5B82-0756029D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50DE11CA-E2E6-8DAC-D4D4-2C6CCCE6ABEB}"/>
              </a:ext>
            </a:extLst>
          </p:cNvPr>
          <p:cNvSpPr/>
          <p:nvPr/>
        </p:nvSpPr>
        <p:spPr>
          <a:xfrm rot="16200000">
            <a:off x="5835569" y="-5459461"/>
            <a:ext cx="520861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AA3189A-7C24-5058-AFE5-119FD72EE619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F8B4353-2DBF-E863-B0D7-4C0B13D0FC5F}"/>
              </a:ext>
            </a:extLst>
          </p:cNvPr>
          <p:cNvSpPr txBox="1"/>
          <p:nvPr/>
        </p:nvSpPr>
        <p:spPr>
          <a:xfrm>
            <a:off x="360218" y="376108"/>
            <a:ext cx="5278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RESULTS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A8BF27D-AD33-8B5B-F757-D80257E31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421" y="1706417"/>
            <a:ext cx="6656758" cy="344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8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E2D6-0EFA-E762-3E89-AE5CD68C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9A2A23D7-1ACC-7950-A2F0-785F41F8742A}"/>
              </a:ext>
            </a:extLst>
          </p:cNvPr>
          <p:cNvSpPr/>
          <p:nvPr/>
        </p:nvSpPr>
        <p:spPr>
          <a:xfrm rot="16200000">
            <a:off x="5835569" y="-5459461"/>
            <a:ext cx="520861" cy="1219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8CA94A7-BF1A-EB5F-17FC-5CBBF447153B}"/>
              </a:ext>
            </a:extLst>
          </p:cNvPr>
          <p:cNvSpPr/>
          <p:nvPr/>
        </p:nvSpPr>
        <p:spPr>
          <a:xfrm>
            <a:off x="11134845" y="0"/>
            <a:ext cx="520861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B66277C-A953-F1FB-0631-1E56660712F1}"/>
              </a:ext>
            </a:extLst>
          </p:cNvPr>
          <p:cNvSpPr txBox="1"/>
          <p:nvPr/>
        </p:nvSpPr>
        <p:spPr>
          <a:xfrm>
            <a:off x="360218" y="376108"/>
            <a:ext cx="5278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ANALYSIS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490CA701-4B84-B16A-F0C2-3B3ED1FB8A7F}"/>
              </a:ext>
            </a:extLst>
          </p:cNvPr>
          <p:cNvSpPr txBox="1"/>
          <p:nvPr/>
        </p:nvSpPr>
        <p:spPr>
          <a:xfrm>
            <a:off x="263236" y="1273078"/>
            <a:ext cx="103353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The</a:t>
            </a:r>
            <a:r>
              <a:rPr lang="tr-TR" dirty="0"/>
              <a:t> model has </a:t>
            </a:r>
            <a:r>
              <a:rPr lang="tr-TR" dirty="0" err="1"/>
              <a:t>been</a:t>
            </a:r>
            <a:r>
              <a:rPr lang="tr-TR" dirty="0"/>
              <a:t> </a:t>
            </a:r>
            <a:r>
              <a:rPr lang="tr-TR" dirty="0" err="1"/>
              <a:t>successfully</a:t>
            </a:r>
            <a:r>
              <a:rPr lang="tr-TR" dirty="0"/>
              <a:t> </a:t>
            </a:r>
            <a:r>
              <a:rPr lang="tr-TR" dirty="0" err="1"/>
              <a:t>trained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predict</a:t>
            </a:r>
            <a:r>
              <a:rPr lang="tr-TR" dirty="0"/>
              <a:t> </a:t>
            </a:r>
            <a:r>
              <a:rPr lang="tr-TR" dirty="0" err="1"/>
              <a:t>heart</a:t>
            </a:r>
            <a:r>
              <a:rPr lang="tr-TR" dirty="0"/>
              <a:t> </a:t>
            </a:r>
            <a:r>
              <a:rPr lang="tr-TR" dirty="0" err="1"/>
              <a:t>disease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evaluated</a:t>
            </a:r>
            <a:r>
              <a:rPr lang="tr-TR" dirty="0"/>
              <a:t> </a:t>
            </a:r>
            <a:r>
              <a:rPr lang="tr-TR" dirty="0" err="1"/>
              <a:t>metrics</a:t>
            </a:r>
            <a:r>
              <a:rPr lang="tr-TR" dirty="0"/>
              <a:t> </a:t>
            </a:r>
            <a:r>
              <a:rPr lang="tr-TR" dirty="0" err="1"/>
              <a:t>show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generally</a:t>
            </a:r>
            <a:r>
              <a:rPr lang="tr-TR" dirty="0"/>
              <a:t> </a:t>
            </a:r>
            <a:r>
              <a:rPr lang="tr-TR" dirty="0" err="1"/>
              <a:t>performs</a:t>
            </a:r>
            <a:r>
              <a:rPr lang="tr-TR" dirty="0"/>
              <a:t> </a:t>
            </a:r>
            <a:r>
              <a:rPr lang="tr-TR" dirty="0" err="1"/>
              <a:t>well</a:t>
            </a:r>
            <a:r>
              <a:rPr lang="tr-TR" dirty="0"/>
              <a:t>. </a:t>
            </a:r>
            <a:r>
              <a:rPr lang="tr-TR" dirty="0" err="1"/>
              <a:t>However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following</a:t>
            </a:r>
            <a:r>
              <a:rPr lang="tr-TR" dirty="0"/>
              <a:t> can be done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achieve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:</a:t>
            </a:r>
          </a:p>
          <a:p>
            <a:endParaRPr lang="tr-TR" dirty="0"/>
          </a:p>
          <a:p>
            <a:r>
              <a:rPr lang="tr-TR" i="1" dirty="0" err="1">
                <a:solidFill>
                  <a:srgbClr val="FF0000"/>
                </a:solidFill>
              </a:rPr>
              <a:t>Deeper</a:t>
            </a:r>
            <a:r>
              <a:rPr lang="tr-TR" i="1" dirty="0">
                <a:solidFill>
                  <a:srgbClr val="FF0000"/>
                </a:solidFill>
              </a:rPr>
              <a:t> </a:t>
            </a:r>
            <a:r>
              <a:rPr lang="tr-TR" i="1" dirty="0" err="1">
                <a:solidFill>
                  <a:srgbClr val="FF0000"/>
                </a:solidFill>
              </a:rPr>
              <a:t>Models</a:t>
            </a:r>
            <a:r>
              <a:rPr lang="tr-TR" i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Deeper</a:t>
            </a:r>
            <a:r>
              <a:rPr lang="tr-TR" dirty="0"/>
              <a:t> </a:t>
            </a:r>
            <a:r>
              <a:rPr lang="tr-TR" dirty="0" err="1"/>
              <a:t>networks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(</a:t>
            </a:r>
            <a:r>
              <a:rPr lang="tr-TR" dirty="0" err="1"/>
              <a:t>e.g</a:t>
            </a:r>
            <a:r>
              <a:rPr lang="tr-TR" dirty="0"/>
              <a:t>. </a:t>
            </a:r>
            <a:r>
              <a:rPr lang="tr-TR" dirty="0" err="1"/>
              <a:t>Convolutional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Networks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complex</a:t>
            </a:r>
            <a:r>
              <a:rPr lang="tr-TR" dirty="0"/>
              <a:t> DNN </a:t>
            </a:r>
            <a:r>
              <a:rPr lang="tr-TR" dirty="0" err="1"/>
              <a:t>structures</a:t>
            </a:r>
            <a:r>
              <a:rPr lang="tr-TR" dirty="0"/>
              <a:t>) can be </a:t>
            </a:r>
            <a:r>
              <a:rPr lang="tr-TR" dirty="0" err="1"/>
              <a:t>tried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improve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model.</a:t>
            </a:r>
          </a:p>
          <a:p>
            <a:r>
              <a:rPr lang="tr-TR" i="1" dirty="0" err="1">
                <a:solidFill>
                  <a:srgbClr val="FF0000"/>
                </a:solidFill>
              </a:rPr>
              <a:t>Different</a:t>
            </a:r>
            <a:r>
              <a:rPr lang="tr-TR" i="1" dirty="0">
                <a:solidFill>
                  <a:srgbClr val="FF0000"/>
                </a:solidFill>
              </a:rPr>
              <a:t> </a:t>
            </a:r>
            <a:r>
              <a:rPr lang="tr-TR" i="1" dirty="0" err="1">
                <a:solidFill>
                  <a:srgbClr val="FF0000"/>
                </a:solidFill>
              </a:rPr>
              <a:t>Feature</a:t>
            </a:r>
            <a:r>
              <a:rPr lang="tr-TR" i="1" dirty="0">
                <a:solidFill>
                  <a:srgbClr val="FF0000"/>
                </a:solidFill>
              </a:rPr>
              <a:t> </a:t>
            </a:r>
            <a:r>
              <a:rPr lang="tr-TR" i="1" dirty="0" err="1">
                <a:solidFill>
                  <a:srgbClr val="FF0000"/>
                </a:solidFill>
              </a:rPr>
              <a:t>Engineering</a:t>
            </a:r>
            <a:r>
              <a:rPr lang="tr-TR" i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Adding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data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transforming</a:t>
            </a:r>
            <a:r>
              <a:rPr lang="tr-TR" dirty="0"/>
              <a:t> </a:t>
            </a:r>
            <a:r>
              <a:rPr lang="tr-TR" dirty="0" err="1"/>
              <a:t>existing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represent</a:t>
            </a:r>
            <a:r>
              <a:rPr lang="tr-TR" dirty="0"/>
              <a:t> </a:t>
            </a:r>
            <a:r>
              <a:rPr lang="tr-TR" dirty="0" err="1"/>
              <a:t>them</a:t>
            </a:r>
            <a:r>
              <a:rPr lang="tr-TR" dirty="0"/>
              <a:t> can </a:t>
            </a:r>
            <a:r>
              <a:rPr lang="tr-TR" dirty="0" err="1"/>
              <a:t>improve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model.</a:t>
            </a:r>
          </a:p>
          <a:p>
            <a:r>
              <a:rPr lang="tr-TR" i="1" dirty="0" err="1">
                <a:solidFill>
                  <a:srgbClr val="FF0000"/>
                </a:solidFill>
              </a:rPr>
              <a:t>Unweighted</a:t>
            </a:r>
            <a:r>
              <a:rPr lang="tr-TR" i="1" dirty="0">
                <a:solidFill>
                  <a:srgbClr val="FF0000"/>
                </a:solidFill>
              </a:rPr>
              <a:t> </a:t>
            </a:r>
            <a:r>
              <a:rPr lang="tr-TR" i="1" dirty="0" err="1">
                <a:solidFill>
                  <a:srgbClr val="FF0000"/>
                </a:solidFill>
              </a:rPr>
              <a:t>Loss</a:t>
            </a:r>
            <a:r>
              <a:rPr lang="tr-TR" i="1" dirty="0">
                <a:solidFill>
                  <a:srgbClr val="FF0000"/>
                </a:solidFill>
              </a:rPr>
              <a:t> </a:t>
            </a:r>
            <a:r>
              <a:rPr lang="tr-TR" i="1" dirty="0" err="1">
                <a:solidFill>
                  <a:srgbClr val="FF0000"/>
                </a:solidFill>
              </a:rPr>
              <a:t>Functions</a:t>
            </a:r>
            <a:r>
              <a:rPr lang="tr-TR" i="1" dirty="0">
                <a:solidFill>
                  <a:srgbClr val="FF0000"/>
                </a:solidFill>
              </a:rPr>
              <a:t>: </a:t>
            </a:r>
            <a:r>
              <a:rPr lang="tr-TR" dirty="0" err="1"/>
              <a:t>Weighted</a:t>
            </a:r>
            <a:r>
              <a:rPr lang="tr-TR" dirty="0"/>
              <a:t> </a:t>
            </a:r>
            <a:r>
              <a:rPr lang="tr-TR" dirty="0" err="1"/>
              <a:t>loss</a:t>
            </a:r>
            <a:r>
              <a:rPr lang="tr-TR" dirty="0"/>
              <a:t> </a:t>
            </a:r>
            <a:r>
              <a:rPr lang="tr-TR" dirty="0" err="1"/>
              <a:t>functions</a:t>
            </a:r>
            <a:r>
              <a:rPr lang="tr-TR" dirty="0"/>
              <a:t> can be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according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importance</a:t>
            </a:r>
            <a:r>
              <a:rPr lang="tr-TR" dirty="0"/>
              <a:t> of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negatives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positives</a:t>
            </a:r>
            <a:r>
              <a:rPr lang="tr-TR" dirty="0"/>
              <a:t> in </a:t>
            </a:r>
            <a:r>
              <a:rPr lang="tr-TR" dirty="0" err="1"/>
              <a:t>imbalanced</a:t>
            </a:r>
            <a:r>
              <a:rPr lang="tr-TR" dirty="0"/>
              <a:t> data </a:t>
            </a:r>
            <a:r>
              <a:rPr lang="tr-TR" dirty="0" err="1"/>
              <a:t>sets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5228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ğ Gözü">
  <a:themeElements>
    <a:clrScheme name="Ağ Gözü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Ağ Gözü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ğ Gözü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{568C8A5B-C44D-944A-88C8-4E169BBC5690}tf10001063</Template>
  <TotalTime>352</TotalTime>
  <Words>904</Words>
  <Application>Microsoft Macintosh PowerPoint</Application>
  <PresentationFormat>Geniş ekran</PresentationFormat>
  <Paragraphs>65</Paragraphs>
  <Slides>8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4" baseType="lpstr">
      <vt:lpstr>-apple-system-font</vt:lpstr>
      <vt:lpstr>-webkit-standard</vt:lpstr>
      <vt:lpstr>Arial</vt:lpstr>
      <vt:lpstr>Calibri</vt:lpstr>
      <vt:lpstr>Century Gothic</vt:lpstr>
      <vt:lpstr>Ağ Gözü</vt:lpstr>
      <vt:lpstr>HeartRisk AI: Predicting Cardiovascular Health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Berke Tüylek</dc:creator>
  <cp:lastModifiedBy>Berke Tüylek</cp:lastModifiedBy>
  <cp:revision>4</cp:revision>
  <dcterms:created xsi:type="dcterms:W3CDTF">2024-10-08T21:38:20Z</dcterms:created>
  <dcterms:modified xsi:type="dcterms:W3CDTF">2025-01-27T17:53:04Z</dcterms:modified>
</cp:coreProperties>
</file>